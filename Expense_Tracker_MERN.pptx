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2194560"/>
            <a:ext cx="10332720" cy="914400"/>
          </a:xfrm>
          <a:prstGeom prst="rect">
            <a:avLst/>
          </a:prstGeom>
          <a:noFill/>
          <a:ln/>
        </p:spPr>
        <p:txBody>
          <a:bodyPr wrap="square" rtlCol="0" anchor="ctr"/>
          <a:lstStyle/>
          <a:p>
            <a:pPr algn="ctr" indent="0" marL="0">
              <a:buNone/>
            </a:pPr>
            <a:r>
              <a:rPr lang="en-US" sz="5400" b="1" dirty="0">
                <a:solidFill>
                  <a:srgbClr val="1A1A1A"/>
                </a:solidFill>
                <a:latin typeface="Calibri" pitchFamily="34" charset="0"/>
                <a:ea typeface="Calibri" pitchFamily="34" charset="-122"/>
                <a:cs typeface="Calibri" pitchFamily="34" charset="-120"/>
              </a:rPr>
              <a:t>Expense Tracker</a:t>
            </a:r>
            <a:endParaRPr lang="en-US" sz="5400" dirty="0"/>
          </a:p>
        </p:txBody>
      </p:sp>
      <p:sp>
        <p:nvSpPr>
          <p:cNvPr id="3" name="Text 1"/>
          <p:cNvSpPr/>
          <p:nvPr/>
        </p:nvSpPr>
        <p:spPr>
          <a:xfrm>
            <a:off x="914400" y="3200400"/>
            <a:ext cx="10332720" cy="548640"/>
          </a:xfrm>
          <a:prstGeom prst="rect">
            <a:avLst/>
          </a:prstGeom>
          <a:noFill/>
          <a:ln/>
        </p:spPr>
        <p:txBody>
          <a:bodyPr wrap="square" rtlCol="0" anchor="ctr"/>
          <a:lstStyle/>
          <a:p>
            <a:pPr algn="ctr" indent="0" marL="0">
              <a:buNone/>
            </a:pPr>
            <a:r>
              <a:rPr lang="en-US" sz="2400" dirty="0">
                <a:solidFill>
                  <a:srgbClr val="555555"/>
                </a:solidFill>
                <a:latin typeface="Calibri" pitchFamily="34" charset="0"/>
                <a:ea typeface="Calibri" pitchFamily="34" charset="-122"/>
                <a:cs typeface="Calibri" pitchFamily="34" charset="-120"/>
              </a:rPr>
              <a:t>A MERN Stack Web Application</a:t>
            </a:r>
            <a:endParaRPr lang="en-US" sz="2400" dirty="0"/>
          </a:p>
        </p:txBody>
      </p:sp>
      <p:sp>
        <p:nvSpPr>
          <p:cNvPr id="4" name="Text 2"/>
          <p:cNvSpPr/>
          <p:nvPr/>
        </p:nvSpPr>
        <p:spPr>
          <a:xfrm>
            <a:off x="914400" y="5029200"/>
            <a:ext cx="10332720" cy="1097280"/>
          </a:xfrm>
          <a:prstGeom prst="rect">
            <a:avLst/>
          </a:prstGeom>
          <a:noFill/>
          <a:ln/>
        </p:spPr>
        <p:txBody>
          <a:bodyPr wrap="square" rtlCol="0" anchor="ctr"/>
          <a:lstStyle/>
          <a:p>
            <a:pPr algn="ctr" indent="0" marL="0">
              <a:lnSpc>
                <a:spcPct val="140000"/>
              </a:lnSpc>
              <a:buNone/>
            </a:pPr>
            <a:r>
              <a:rPr lang="en-US" sz="1600" dirty="0">
                <a:solidFill>
                  <a:srgbClr val="555555"/>
                </a:solidFill>
                <a:latin typeface="Calibri" pitchFamily="34" charset="0"/>
                <a:ea typeface="Calibri" pitchFamily="34" charset="-122"/>
                <a:cs typeface="Calibri" pitchFamily="34" charset="-120"/>
              </a:rPr>
              <a:t>Submitted by: Shiva</a:t>
            </a:r>
            <a:endParaRPr lang="en-US" sz="1600" dirty="0"/>
          </a:p>
          <a:p>
            <a:pPr algn="ctr" indent="0" marL="0">
              <a:lnSpc>
                <a:spcPct val="140000"/>
              </a:lnSpc>
              <a:buNone/>
            </a:pPr>
            <a:r>
              <a:rPr lang="en-US" sz="1600" dirty="0">
                <a:solidFill>
                  <a:srgbClr val="555555"/>
                </a:solidFill>
                <a:latin typeface="Calibri" pitchFamily="34" charset="0"/>
                <a:ea typeface="Calibri" pitchFamily="34" charset="-122"/>
                <a:cs typeface="Calibri" pitchFamily="34" charset="-120"/>
              </a:rPr>
              <a:t>Course: Full Stack Web Development</a:t>
            </a:r>
            <a:endParaRPr lang="en-US" sz="1600" dirty="0"/>
          </a:p>
          <a:p>
            <a:pPr algn="ctr" indent="0" marL="0">
              <a:lnSpc>
                <a:spcPct val="140000"/>
              </a:lnSpc>
              <a:buNone/>
            </a:pPr>
            <a:r>
              <a:rPr lang="en-US" sz="1600" dirty="0">
                <a:solidFill>
                  <a:srgbClr val="555555"/>
                </a:solidFill>
                <a:latin typeface="Calibri" pitchFamily="34" charset="0"/>
                <a:ea typeface="Calibri" pitchFamily="34" charset="-122"/>
                <a:cs typeface="Calibri" pitchFamily="34" charset="-120"/>
              </a:rPr>
              <a:t>Date: April 30,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200" b="1" dirty="0">
                <a:solidFill>
                  <a:srgbClr val="1A1A1A"/>
                </a:solidFill>
                <a:latin typeface="Calibri" pitchFamily="34" charset="0"/>
                <a:ea typeface="Calibri" pitchFamily="34" charset="-122"/>
                <a:cs typeface="Calibri" pitchFamily="34" charset="-120"/>
              </a:rPr>
              <a:t>Project Overview</a:t>
            </a:r>
            <a:endParaRPr lang="en-US" sz="3200" dirty="0"/>
          </a:p>
        </p:txBody>
      </p:sp>
      <p:sp>
        <p:nvSpPr>
          <p:cNvPr id="3" name="Text 1"/>
          <p:cNvSpPr/>
          <p:nvPr/>
        </p:nvSpPr>
        <p:spPr>
          <a:xfrm>
            <a:off x="640080" y="1371600"/>
            <a:ext cx="10972800" cy="457200"/>
          </a:xfrm>
          <a:prstGeom prst="rect">
            <a:avLst/>
          </a:prstGeom>
          <a:noFill/>
          <a:ln/>
        </p:spPr>
        <p:txBody>
          <a:bodyPr wrap="square"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Problem</a:t>
            </a:r>
            <a:endParaRPr lang="en-US" sz="2000" dirty="0"/>
          </a:p>
        </p:txBody>
      </p:sp>
      <p:sp>
        <p:nvSpPr>
          <p:cNvPr id="4" name="Text 2"/>
          <p:cNvSpPr/>
          <p:nvPr/>
        </p:nvSpPr>
        <p:spPr>
          <a:xfrm>
            <a:off x="640080" y="1828800"/>
            <a:ext cx="10972800" cy="822960"/>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People struggle to track their daily spending and stay within a monthly budget. Existing tools are often complex, paid, or require linking bank accounts.</a:t>
            </a:r>
            <a:endParaRPr lang="en-US" sz="1600" dirty="0"/>
          </a:p>
        </p:txBody>
      </p:sp>
      <p:sp>
        <p:nvSpPr>
          <p:cNvPr id="5" name="Text 3"/>
          <p:cNvSpPr/>
          <p:nvPr/>
        </p:nvSpPr>
        <p:spPr>
          <a:xfrm>
            <a:off x="640080" y="2926080"/>
            <a:ext cx="10972800" cy="457200"/>
          </a:xfrm>
          <a:prstGeom prst="rect">
            <a:avLst/>
          </a:prstGeom>
          <a:noFill/>
          <a:ln/>
        </p:spPr>
        <p:txBody>
          <a:bodyPr wrap="square"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Solution</a:t>
            </a:r>
            <a:endParaRPr lang="en-US" sz="2000" dirty="0"/>
          </a:p>
        </p:txBody>
      </p:sp>
      <p:sp>
        <p:nvSpPr>
          <p:cNvPr id="6" name="Text 4"/>
          <p:cNvSpPr/>
          <p:nvPr/>
        </p:nvSpPr>
        <p:spPr>
          <a:xfrm>
            <a:off x="640080" y="3383280"/>
            <a:ext cx="10972800" cy="822960"/>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A simple, self-hosted expense tracking web app that lets users record expenses, categorize them, set a monthly budget, and visualize their spending through interactive charts.</a:t>
            </a:r>
            <a:endParaRPr lang="en-US" sz="1600" dirty="0"/>
          </a:p>
        </p:txBody>
      </p:sp>
      <p:sp>
        <p:nvSpPr>
          <p:cNvPr id="7" name="Text 5"/>
          <p:cNvSpPr/>
          <p:nvPr/>
        </p:nvSpPr>
        <p:spPr>
          <a:xfrm>
            <a:off x="640080" y="4480560"/>
            <a:ext cx="10972800" cy="457200"/>
          </a:xfrm>
          <a:prstGeom prst="rect">
            <a:avLst/>
          </a:prstGeom>
          <a:noFill/>
          <a:ln/>
        </p:spPr>
        <p:txBody>
          <a:bodyPr wrap="square"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Key Features</a:t>
            </a:r>
            <a:endParaRPr lang="en-US" sz="2000" dirty="0"/>
          </a:p>
        </p:txBody>
      </p:sp>
      <p:sp>
        <p:nvSpPr>
          <p:cNvPr id="8" name="Text 6"/>
          <p:cNvSpPr/>
          <p:nvPr/>
        </p:nvSpPr>
        <p:spPr>
          <a:xfrm>
            <a:off x="640080" y="4937760"/>
            <a:ext cx="10972800" cy="1737360"/>
          </a:xfrm>
          <a:prstGeom prst="rect">
            <a:avLst/>
          </a:prstGeom>
          <a:noFill/>
          <a:ln/>
        </p:spPr>
        <p:txBody>
          <a:bodyPr wrap="square" rtlCol="0" anchor="ctr"/>
          <a:lstStyle/>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Add, edit, and delete expenses with description, amount, category, and date</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Eight categories: Food, Transport, Shopping, Entertainment, Bills, Health, Education, Other</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Monthly budget tracking with live progress bar and over-budget alerts</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Visualizations: 7-day spending area chart and category breakdown donut chart</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Search and filter transactions by description or category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200" b="1" dirty="0">
                <a:solidFill>
                  <a:srgbClr val="1A1A1A"/>
                </a:solidFill>
                <a:latin typeface="Calibri" pitchFamily="34" charset="0"/>
                <a:ea typeface="Calibri" pitchFamily="34" charset="-122"/>
                <a:cs typeface="Calibri" pitchFamily="34" charset="-120"/>
              </a:rPr>
              <a:t>Tech Stack</a:t>
            </a:r>
            <a:endParaRPr lang="en-US" sz="3200" dirty="0"/>
          </a:p>
        </p:txBody>
      </p:sp>
      <p:sp>
        <p:nvSpPr>
          <p:cNvPr id="3" name="Text 1"/>
          <p:cNvSpPr/>
          <p:nvPr/>
        </p:nvSpPr>
        <p:spPr>
          <a:xfrm>
            <a:off x="640080" y="1188720"/>
            <a:ext cx="10972800" cy="457200"/>
          </a:xfrm>
          <a:prstGeom prst="rect">
            <a:avLst/>
          </a:prstGeom>
          <a:noFill/>
          <a:ln/>
        </p:spPr>
        <p:txBody>
          <a:bodyPr wrap="square" rtlCol="0" anchor="ctr"/>
          <a:lstStyle/>
          <a:p>
            <a:pPr indent="0" marL="0">
              <a:buNone/>
            </a:pPr>
            <a:r>
              <a:rPr lang="en-US" sz="1600" dirty="0">
                <a:solidFill>
                  <a:srgbClr val="555555"/>
                </a:solidFill>
                <a:latin typeface="Calibri" pitchFamily="34" charset="0"/>
                <a:ea typeface="Calibri" pitchFamily="34" charset="-122"/>
                <a:cs typeface="Calibri" pitchFamily="34" charset="-120"/>
              </a:rPr>
              <a:t>Built using the MERN stack: MongoDB, Express, React, and Node.js.</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914400"/>
        </p:xfrm>
        <a:graphic>
          <a:graphicData uri="http://schemas.openxmlformats.org/drawingml/2006/table">
            <a:tbl>
              <a:tblPr/>
              <a:tblGrid>
                <a:gridCol w="2194560"/>
                <a:gridCol w="2560320"/>
                <a:gridCol w="6126480"/>
              </a:tblGrid>
              <a:tr h="50292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0F0"/>
                    </a:solidFill>
                  </a:tcPr>
                </a:tc>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Technology</a:t>
                      </a:r>
                      <a:endParaRPr lang="en-US" sz="14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0F0"/>
                    </a:solidFill>
                  </a:tcPr>
                </a:tc>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Purpose</a:t>
                      </a:r>
                      <a:endParaRPr lang="en-US" sz="14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0F0"/>
                    </a:solidFill>
                  </a:tcPr>
                </a:tc>
              </a:tr>
              <a:tr h="50292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Database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MongoDB (Atlas)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Stores expense and budget documents in the cloud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0292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Backend Framework</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Express 4 + Node.js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Handles HTTP requests and serves the REST API</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0292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ODM</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Mongoose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Schema validation and MongoDB query layer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0292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Frontend Library</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React 18</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Component-based user interface with hooks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0292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Build Tool</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Vite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Fast dev server and production bundling</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0292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Styling</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Tailwind CSS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Utility-first styling for the responsive UI</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0292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Charts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Recharts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Area chart and donut chart for visualization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0292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HTTP Client</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Axios</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Frontend communication with backend API</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200" b="1" dirty="0">
                <a:solidFill>
                  <a:srgbClr val="1A1A1A"/>
                </a:solidFill>
                <a:latin typeface="Calibri" pitchFamily="34" charset="0"/>
                <a:ea typeface="Calibri" pitchFamily="34" charset="-122"/>
                <a:cs typeface="Calibri" pitchFamily="34" charset="-120"/>
              </a:rPr>
              <a:t>System Architecture</a:t>
            </a:r>
            <a:endParaRPr lang="en-US" sz="3200" dirty="0"/>
          </a:p>
        </p:txBody>
      </p:sp>
      <p:sp>
        <p:nvSpPr>
          <p:cNvPr id="3" name="Text 1"/>
          <p:cNvSpPr/>
          <p:nvPr/>
        </p:nvSpPr>
        <p:spPr>
          <a:xfrm>
            <a:off x="640080" y="1188720"/>
            <a:ext cx="10972800" cy="822960"/>
          </a:xfrm>
          <a:prstGeom prst="rect">
            <a:avLst/>
          </a:prstGeom>
          <a:noFill/>
          <a:ln/>
        </p:spPr>
        <p:txBody>
          <a:bodyPr wrap="square" rtlCol="0" anchor="ctr"/>
          <a:lstStyle/>
          <a:p>
            <a:pPr indent="0" marL="0">
              <a:buNone/>
            </a:pPr>
            <a:r>
              <a:rPr lang="en-US" sz="1500" dirty="0">
                <a:solidFill>
                  <a:srgbClr val="1A1A1A"/>
                </a:solidFill>
                <a:latin typeface="Calibri" pitchFamily="34" charset="0"/>
                <a:ea typeface="Calibri" pitchFamily="34" charset="-122"/>
                <a:cs typeface="Calibri" pitchFamily="34" charset="-120"/>
              </a:rPr>
              <a:t>The application follows a three-tier architecture. The React frontend communicates with the Express backend through HTTP requests, and the backend persists data in MongoDB Atlas using the Mongoose ODM.</a:t>
            </a:r>
            <a:endParaRPr lang="en-US" sz="1500" dirty="0"/>
          </a:p>
        </p:txBody>
      </p:sp>
      <p:sp>
        <p:nvSpPr>
          <p:cNvPr id="4" name="Shape 2"/>
          <p:cNvSpPr/>
          <p:nvPr/>
        </p:nvSpPr>
        <p:spPr>
          <a:xfrm>
            <a:off x="822960" y="2468880"/>
            <a:ext cx="3200400" cy="2011680"/>
          </a:xfrm>
          <a:prstGeom prst="rect">
            <a:avLst/>
          </a:prstGeom>
          <a:solidFill>
            <a:srgbClr val="FFFFFF"/>
          </a:solidFill>
          <a:ln w="12700">
            <a:solidFill>
              <a:srgbClr val="888888"/>
            </a:solidFill>
            <a:prstDash val="solid"/>
          </a:ln>
        </p:spPr>
      </p:sp>
      <p:sp>
        <p:nvSpPr>
          <p:cNvPr id="5" name="Text 3"/>
          <p:cNvSpPr/>
          <p:nvPr/>
        </p:nvSpPr>
        <p:spPr>
          <a:xfrm>
            <a:off x="1005840" y="2651760"/>
            <a:ext cx="2834640" cy="457200"/>
          </a:xfrm>
          <a:prstGeom prst="rect">
            <a:avLst/>
          </a:prstGeom>
          <a:noFill/>
          <a:ln/>
        </p:spPr>
        <p:txBody>
          <a:bodyPr wrap="square" rtlCol="0" anchor="ctr"/>
          <a:lstStyle/>
          <a:p>
            <a:pPr algn="ctr" indent="0" marL="0">
              <a:buNone/>
            </a:pPr>
            <a:r>
              <a:rPr lang="en-US" sz="1800" b="1" dirty="0">
                <a:solidFill>
                  <a:srgbClr val="1A1A1A"/>
                </a:solidFill>
                <a:latin typeface="Calibri" pitchFamily="34" charset="0"/>
                <a:ea typeface="Calibri" pitchFamily="34" charset="-122"/>
                <a:cs typeface="Calibri" pitchFamily="34" charset="-120"/>
              </a:rPr>
              <a:t>Frontend (Client)</a:t>
            </a:r>
            <a:endParaRPr lang="en-US" sz="1800" dirty="0"/>
          </a:p>
        </p:txBody>
      </p:sp>
      <p:sp>
        <p:nvSpPr>
          <p:cNvPr id="6" name="Text 4"/>
          <p:cNvSpPr/>
          <p:nvPr/>
        </p:nvSpPr>
        <p:spPr>
          <a:xfrm>
            <a:off x="1005840" y="3154680"/>
            <a:ext cx="2834640" cy="365760"/>
          </a:xfrm>
          <a:prstGeom prst="rect">
            <a:avLst/>
          </a:prstGeom>
          <a:noFill/>
          <a:ln/>
        </p:spPr>
        <p:txBody>
          <a:bodyPr wrap="square" rtlCol="0" anchor="ctr"/>
          <a:lstStyle/>
          <a:p>
            <a:pPr algn="ctr" indent="0" marL="0">
              <a:buNone/>
            </a:pPr>
            <a:r>
              <a:rPr lang="en-US" sz="1300" i="1" dirty="0">
                <a:solidFill>
                  <a:srgbClr val="555555"/>
                </a:solidFill>
                <a:latin typeface="Calibri" pitchFamily="34" charset="0"/>
                <a:ea typeface="Calibri" pitchFamily="34" charset="-122"/>
                <a:cs typeface="Calibri" pitchFamily="34" charset="-120"/>
              </a:rPr>
              <a:t>React 18 + Vite</a:t>
            </a:r>
            <a:endParaRPr lang="en-US" sz="1300" dirty="0"/>
          </a:p>
        </p:txBody>
      </p:sp>
      <p:sp>
        <p:nvSpPr>
          <p:cNvPr id="7" name="Text 5"/>
          <p:cNvSpPr/>
          <p:nvPr/>
        </p:nvSpPr>
        <p:spPr>
          <a:xfrm>
            <a:off x="1005840" y="3566160"/>
            <a:ext cx="2834640" cy="822960"/>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Renders UI, handles user input,</a:t>
            </a:r>
            <a:endParaRPr lang="en-US" sz="1200" dirty="0"/>
          </a:p>
          <a:p>
            <a:pPr algn="ctr" indent="0" marL="0">
              <a:buNone/>
            </a:pPr>
            <a:r>
              <a:rPr lang="en-US" sz="1200" dirty="0">
                <a:solidFill>
                  <a:srgbClr val="1A1A1A"/>
                </a:solidFill>
                <a:latin typeface="Calibri" pitchFamily="34" charset="0"/>
                <a:ea typeface="Calibri" pitchFamily="34" charset="-122"/>
                <a:cs typeface="Calibri" pitchFamily="34" charset="-120"/>
              </a:rPr>
              <a:t>sends API requests via Axios.</a:t>
            </a:r>
            <a:endParaRPr lang="en-US" sz="1200" dirty="0"/>
          </a:p>
          <a:p>
            <a:pPr algn="ctr" indent="0" marL="0">
              <a:buNone/>
            </a:pPr>
            <a:r>
              <a:rPr lang="en-US" sz="1200" dirty="0">
                <a:solidFill>
                  <a:srgbClr val="1A1A1A"/>
                </a:solidFill>
                <a:latin typeface="Calibri" pitchFamily="34" charset="0"/>
                <a:ea typeface="Calibri" pitchFamily="34" charset="-122"/>
                <a:cs typeface="Calibri" pitchFamily="34" charset="-120"/>
              </a:rPr>
              <a:t>Runs on localhost:3000</a:t>
            </a:r>
            <a:endParaRPr lang="en-US" sz="1200" dirty="0"/>
          </a:p>
        </p:txBody>
      </p:sp>
      <p:sp>
        <p:nvSpPr>
          <p:cNvPr id="8" name="Shape 6"/>
          <p:cNvSpPr/>
          <p:nvPr/>
        </p:nvSpPr>
        <p:spPr>
          <a:xfrm>
            <a:off x="4480560" y="2468880"/>
            <a:ext cx="3200400" cy="2011680"/>
          </a:xfrm>
          <a:prstGeom prst="rect">
            <a:avLst/>
          </a:prstGeom>
          <a:solidFill>
            <a:srgbClr val="FFFFFF"/>
          </a:solidFill>
          <a:ln w="12700">
            <a:solidFill>
              <a:srgbClr val="888888"/>
            </a:solidFill>
            <a:prstDash val="solid"/>
          </a:ln>
        </p:spPr>
      </p:sp>
      <p:sp>
        <p:nvSpPr>
          <p:cNvPr id="9" name="Text 7"/>
          <p:cNvSpPr/>
          <p:nvPr/>
        </p:nvSpPr>
        <p:spPr>
          <a:xfrm>
            <a:off x="4663440" y="2651760"/>
            <a:ext cx="2834640" cy="457200"/>
          </a:xfrm>
          <a:prstGeom prst="rect">
            <a:avLst/>
          </a:prstGeom>
          <a:noFill/>
          <a:ln/>
        </p:spPr>
        <p:txBody>
          <a:bodyPr wrap="square" rtlCol="0" anchor="ctr"/>
          <a:lstStyle/>
          <a:p>
            <a:pPr algn="ctr" indent="0" marL="0">
              <a:buNone/>
            </a:pPr>
            <a:r>
              <a:rPr lang="en-US" sz="1800" b="1" dirty="0">
                <a:solidFill>
                  <a:srgbClr val="1A1A1A"/>
                </a:solidFill>
                <a:latin typeface="Calibri" pitchFamily="34" charset="0"/>
                <a:ea typeface="Calibri" pitchFamily="34" charset="-122"/>
                <a:cs typeface="Calibri" pitchFamily="34" charset="-120"/>
              </a:rPr>
              <a:t>Backend (Server)</a:t>
            </a:r>
            <a:endParaRPr lang="en-US" sz="1800" dirty="0"/>
          </a:p>
        </p:txBody>
      </p:sp>
      <p:sp>
        <p:nvSpPr>
          <p:cNvPr id="10" name="Text 8"/>
          <p:cNvSpPr/>
          <p:nvPr/>
        </p:nvSpPr>
        <p:spPr>
          <a:xfrm>
            <a:off x="4663440" y="3154680"/>
            <a:ext cx="2834640" cy="365760"/>
          </a:xfrm>
          <a:prstGeom prst="rect">
            <a:avLst/>
          </a:prstGeom>
          <a:noFill/>
          <a:ln/>
        </p:spPr>
        <p:txBody>
          <a:bodyPr wrap="square" rtlCol="0" anchor="ctr"/>
          <a:lstStyle/>
          <a:p>
            <a:pPr algn="ctr" indent="0" marL="0">
              <a:buNone/>
            </a:pPr>
            <a:r>
              <a:rPr lang="en-US" sz="1300" i="1" dirty="0">
                <a:solidFill>
                  <a:srgbClr val="555555"/>
                </a:solidFill>
                <a:latin typeface="Calibri" pitchFamily="34" charset="0"/>
                <a:ea typeface="Calibri" pitchFamily="34" charset="-122"/>
                <a:cs typeface="Calibri" pitchFamily="34" charset="-120"/>
              </a:rPr>
              <a:t>Node.js + Express</a:t>
            </a:r>
            <a:endParaRPr lang="en-US" sz="1300" dirty="0"/>
          </a:p>
        </p:txBody>
      </p:sp>
      <p:sp>
        <p:nvSpPr>
          <p:cNvPr id="11" name="Text 9"/>
          <p:cNvSpPr/>
          <p:nvPr/>
        </p:nvSpPr>
        <p:spPr>
          <a:xfrm>
            <a:off x="4663440" y="3566160"/>
            <a:ext cx="2834640" cy="822960"/>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Handles routes, validates input,</a:t>
            </a:r>
            <a:endParaRPr lang="en-US" sz="1200" dirty="0"/>
          </a:p>
          <a:p>
            <a:pPr algn="ctr" indent="0" marL="0">
              <a:buNone/>
            </a:pPr>
            <a:r>
              <a:rPr lang="en-US" sz="1200" dirty="0">
                <a:solidFill>
                  <a:srgbClr val="1A1A1A"/>
                </a:solidFill>
                <a:latin typeface="Calibri" pitchFamily="34" charset="0"/>
                <a:ea typeface="Calibri" pitchFamily="34" charset="-122"/>
                <a:cs typeface="Calibri" pitchFamily="34" charset="-120"/>
              </a:rPr>
              <a:t>performs CRUD operations.</a:t>
            </a:r>
            <a:endParaRPr lang="en-US" sz="1200" dirty="0"/>
          </a:p>
          <a:p>
            <a:pPr algn="ctr" indent="0" marL="0">
              <a:buNone/>
            </a:pPr>
            <a:r>
              <a:rPr lang="en-US" sz="1200" dirty="0">
                <a:solidFill>
                  <a:srgbClr val="1A1A1A"/>
                </a:solidFill>
                <a:latin typeface="Calibri" pitchFamily="34" charset="0"/>
                <a:ea typeface="Calibri" pitchFamily="34" charset="-122"/>
                <a:cs typeface="Calibri" pitchFamily="34" charset="-120"/>
              </a:rPr>
              <a:t>Runs on localhost:5000</a:t>
            </a:r>
            <a:endParaRPr lang="en-US" sz="1200" dirty="0"/>
          </a:p>
        </p:txBody>
      </p:sp>
      <p:sp>
        <p:nvSpPr>
          <p:cNvPr id="12" name="Shape 10"/>
          <p:cNvSpPr/>
          <p:nvPr/>
        </p:nvSpPr>
        <p:spPr>
          <a:xfrm>
            <a:off x="8138160" y="2468880"/>
            <a:ext cx="3200400" cy="2011680"/>
          </a:xfrm>
          <a:prstGeom prst="rect">
            <a:avLst/>
          </a:prstGeom>
          <a:solidFill>
            <a:srgbClr val="FFFFFF"/>
          </a:solidFill>
          <a:ln w="12700">
            <a:solidFill>
              <a:srgbClr val="888888"/>
            </a:solidFill>
            <a:prstDash val="solid"/>
          </a:ln>
        </p:spPr>
      </p:sp>
      <p:sp>
        <p:nvSpPr>
          <p:cNvPr id="13" name="Text 11"/>
          <p:cNvSpPr/>
          <p:nvPr/>
        </p:nvSpPr>
        <p:spPr>
          <a:xfrm>
            <a:off x="8321040" y="2651760"/>
            <a:ext cx="2834640" cy="457200"/>
          </a:xfrm>
          <a:prstGeom prst="rect">
            <a:avLst/>
          </a:prstGeom>
          <a:noFill/>
          <a:ln/>
        </p:spPr>
        <p:txBody>
          <a:bodyPr wrap="square" rtlCol="0" anchor="ctr"/>
          <a:lstStyle/>
          <a:p>
            <a:pPr algn="ctr" indent="0" marL="0">
              <a:buNone/>
            </a:pPr>
            <a:r>
              <a:rPr lang="en-US" sz="1800" b="1" dirty="0">
                <a:solidFill>
                  <a:srgbClr val="1A1A1A"/>
                </a:solidFill>
                <a:latin typeface="Calibri" pitchFamily="34" charset="0"/>
                <a:ea typeface="Calibri" pitchFamily="34" charset="-122"/>
                <a:cs typeface="Calibri" pitchFamily="34" charset="-120"/>
              </a:rPr>
              <a:t>Database</a:t>
            </a:r>
            <a:endParaRPr lang="en-US" sz="1800" dirty="0"/>
          </a:p>
        </p:txBody>
      </p:sp>
      <p:sp>
        <p:nvSpPr>
          <p:cNvPr id="14" name="Text 12"/>
          <p:cNvSpPr/>
          <p:nvPr/>
        </p:nvSpPr>
        <p:spPr>
          <a:xfrm>
            <a:off x="8321040" y="3154680"/>
            <a:ext cx="2834640" cy="365760"/>
          </a:xfrm>
          <a:prstGeom prst="rect">
            <a:avLst/>
          </a:prstGeom>
          <a:noFill/>
          <a:ln/>
        </p:spPr>
        <p:txBody>
          <a:bodyPr wrap="square" rtlCol="0" anchor="ctr"/>
          <a:lstStyle/>
          <a:p>
            <a:pPr algn="ctr" indent="0" marL="0">
              <a:buNone/>
            </a:pPr>
            <a:r>
              <a:rPr lang="en-US" sz="1300" i="1" dirty="0">
                <a:solidFill>
                  <a:srgbClr val="555555"/>
                </a:solidFill>
                <a:latin typeface="Calibri" pitchFamily="34" charset="0"/>
                <a:ea typeface="Calibri" pitchFamily="34" charset="-122"/>
                <a:cs typeface="Calibri" pitchFamily="34" charset="-120"/>
              </a:rPr>
              <a:t>MongoDB Atlas</a:t>
            </a:r>
            <a:endParaRPr lang="en-US" sz="1300" dirty="0"/>
          </a:p>
        </p:txBody>
      </p:sp>
      <p:sp>
        <p:nvSpPr>
          <p:cNvPr id="15" name="Text 13"/>
          <p:cNvSpPr/>
          <p:nvPr/>
        </p:nvSpPr>
        <p:spPr>
          <a:xfrm>
            <a:off x="8321040" y="3566160"/>
            <a:ext cx="2834640" cy="822960"/>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Stores expense and budget</a:t>
            </a:r>
            <a:endParaRPr lang="en-US" sz="1200" dirty="0"/>
          </a:p>
          <a:p>
            <a:pPr algn="ctr" indent="0" marL="0">
              <a:buNone/>
            </a:pPr>
            <a:r>
              <a:rPr lang="en-US" sz="1200" dirty="0">
                <a:solidFill>
                  <a:srgbClr val="1A1A1A"/>
                </a:solidFill>
                <a:latin typeface="Calibri" pitchFamily="34" charset="0"/>
                <a:ea typeface="Calibri" pitchFamily="34" charset="-122"/>
                <a:cs typeface="Calibri" pitchFamily="34" charset="-120"/>
              </a:rPr>
              <a:t>documents in the cloud.</a:t>
            </a:r>
            <a:endParaRPr lang="en-US" sz="1200" dirty="0"/>
          </a:p>
          <a:p>
            <a:pPr algn="ctr" indent="0" marL="0">
              <a:buNone/>
            </a:pPr>
            <a:r>
              <a:rPr lang="en-US" sz="1200" dirty="0">
                <a:solidFill>
                  <a:srgbClr val="1A1A1A"/>
                </a:solidFill>
                <a:latin typeface="Calibri" pitchFamily="34" charset="0"/>
                <a:ea typeface="Calibri" pitchFamily="34" charset="-122"/>
                <a:cs typeface="Calibri" pitchFamily="34" charset="-120"/>
              </a:rPr>
              <a:t>Accessed via Mongoose ODM</a:t>
            </a:r>
            <a:endParaRPr lang="en-US" sz="1200" dirty="0"/>
          </a:p>
        </p:txBody>
      </p:sp>
      <p:sp>
        <p:nvSpPr>
          <p:cNvPr id="16" name="Shape 14"/>
          <p:cNvSpPr/>
          <p:nvPr/>
        </p:nvSpPr>
        <p:spPr>
          <a:xfrm>
            <a:off x="4023360" y="3474720"/>
            <a:ext cx="457200" cy="0"/>
          </a:xfrm>
          <a:prstGeom prst="line">
            <a:avLst/>
          </a:prstGeom>
          <a:noFill/>
          <a:ln w="19050">
            <a:solidFill>
              <a:srgbClr val="555555"/>
            </a:solidFill>
            <a:prstDash val="solid"/>
            <a:tailEnd type="triangle"/>
          </a:ln>
        </p:spPr>
      </p:sp>
      <p:sp>
        <p:nvSpPr>
          <p:cNvPr id="17" name="Shape 15"/>
          <p:cNvSpPr/>
          <p:nvPr/>
        </p:nvSpPr>
        <p:spPr>
          <a:xfrm>
            <a:off x="7680960" y="3474720"/>
            <a:ext cx="457200" cy="0"/>
          </a:xfrm>
          <a:prstGeom prst="line">
            <a:avLst/>
          </a:prstGeom>
          <a:noFill/>
          <a:ln w="19050">
            <a:solidFill>
              <a:srgbClr val="555555"/>
            </a:solidFill>
            <a:prstDash val="solid"/>
            <a:tailEnd type="triangle"/>
          </a:ln>
        </p:spPr>
      </p:sp>
      <p:sp>
        <p:nvSpPr>
          <p:cNvPr id="18" name="Text 16"/>
          <p:cNvSpPr/>
          <p:nvPr/>
        </p:nvSpPr>
        <p:spPr>
          <a:xfrm>
            <a:off x="640080" y="5029200"/>
            <a:ext cx="10972800" cy="548640"/>
          </a:xfrm>
          <a:prstGeom prst="rect">
            <a:avLst/>
          </a:prstGeom>
          <a:noFill/>
          <a:ln/>
        </p:spPr>
        <p:txBody>
          <a:bodyPr wrap="square" rtlCol="0" anchor="ctr"/>
          <a:lstStyle/>
          <a:p>
            <a:pPr algn="ctr" indent="0" marL="0">
              <a:buNone/>
            </a:pPr>
            <a:r>
              <a:rPr lang="en-US" sz="1300" i="1" dirty="0">
                <a:solidFill>
                  <a:srgbClr val="555555"/>
                </a:solidFill>
                <a:latin typeface="Calibri" pitchFamily="34" charset="0"/>
                <a:ea typeface="Calibri" pitchFamily="34" charset="-122"/>
                <a:cs typeface="Calibri" pitchFamily="34" charset="-120"/>
              </a:rPr>
              <a:t>Data Flow: User action → Axios request → Express route → Mongoose model → MongoDB → JSON response → React state update → UI re-render</a:t>
            </a:r>
            <a:endParaRPr lang="en-US" sz="1300" dirty="0"/>
          </a:p>
        </p:txBody>
      </p:sp>
      <p:sp>
        <p:nvSpPr>
          <p:cNvPr id="19" name="Text 17"/>
          <p:cNvSpPr/>
          <p:nvPr/>
        </p:nvSpPr>
        <p:spPr>
          <a:xfrm>
            <a:off x="640080" y="5669280"/>
            <a:ext cx="1097280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Folder Structure</a:t>
            </a:r>
            <a:endParaRPr lang="en-US" sz="1400" dirty="0"/>
          </a:p>
        </p:txBody>
      </p:sp>
      <p:sp>
        <p:nvSpPr>
          <p:cNvPr id="20" name="Text 18"/>
          <p:cNvSpPr/>
          <p:nvPr/>
        </p:nvSpPr>
        <p:spPr>
          <a:xfrm>
            <a:off x="640080" y="6035040"/>
            <a:ext cx="10972800" cy="54864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server/ contains config, models, controllers, routes, and server.js. client/ contains src/App.jsx, src/api.js, and Vite config files.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200" b="1" dirty="0">
                <a:solidFill>
                  <a:srgbClr val="1A1A1A"/>
                </a:solidFill>
                <a:latin typeface="Calibri" pitchFamily="34" charset="0"/>
                <a:ea typeface="Calibri" pitchFamily="34" charset="-122"/>
                <a:cs typeface="Calibri" pitchFamily="34" charset="-120"/>
              </a:rPr>
              <a:t>REST API Endpoints</a:t>
            </a:r>
            <a:endParaRPr lang="en-US" sz="3200" dirty="0"/>
          </a:p>
        </p:txBody>
      </p:sp>
      <p:sp>
        <p:nvSpPr>
          <p:cNvPr id="3" name="Text 1"/>
          <p:cNvSpPr/>
          <p:nvPr/>
        </p:nvSpPr>
        <p:spPr>
          <a:xfrm>
            <a:off x="640080" y="1188720"/>
            <a:ext cx="10972800" cy="457200"/>
          </a:xfrm>
          <a:prstGeom prst="rect">
            <a:avLst/>
          </a:prstGeom>
          <a:noFill/>
          <a:ln/>
        </p:spPr>
        <p:txBody>
          <a:bodyPr wrap="square" rtlCol="0" anchor="ctr"/>
          <a:lstStyle/>
          <a:p>
            <a:pPr indent="0" marL="0">
              <a:buNone/>
            </a:pPr>
            <a:r>
              <a:rPr lang="en-US" sz="1500" dirty="0">
                <a:solidFill>
                  <a:srgbClr val="555555"/>
                </a:solidFill>
                <a:latin typeface="Calibri" pitchFamily="34" charset="0"/>
                <a:ea typeface="Calibri" pitchFamily="34" charset="-122"/>
                <a:cs typeface="Calibri" pitchFamily="34" charset="-120"/>
              </a:rPr>
              <a:t>The Express backend exposes six RESTful endpoints across two resources: expenses and budget.</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914400"/>
        </p:xfrm>
        <a:graphic>
          <a:graphicData uri="http://schemas.openxmlformats.org/drawingml/2006/table">
            <a:tbl>
              <a:tblPr/>
              <a:tblGrid>
                <a:gridCol w="1371600"/>
                <a:gridCol w="3108960"/>
                <a:gridCol w="6400800"/>
              </a:tblGrid>
              <a:tr h="457200">
                <a:tc>
                  <a:txBody>
                    <a:bodyPr/>
                    <a:lstStyle/>
                    <a:p>
                      <a:pPr indent="0" marL="0">
                        <a:buNone/>
                      </a:pPr>
                      <a:r>
                        <a:rPr lang="en-US" sz="1400" b="1" dirty="0">
                          <a:solidFill>
                            <a:srgbClr val="1A1A1A"/>
                          </a:solidFill>
                          <a:latin typeface="Consolas" pitchFamily="34" charset="0"/>
                          <a:ea typeface="Consolas" pitchFamily="34" charset="-122"/>
                          <a:cs typeface="Consolas" pitchFamily="34" charset="-120"/>
                        </a:rPr>
                        <a:t>Method</a:t>
                      </a:r>
                      <a:endParaRPr lang="en-US" sz="14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0F0"/>
                    </a:solidFill>
                  </a:tcPr>
                </a:tc>
                <a:tc>
                  <a:txBody>
                    <a:bodyPr/>
                    <a:lstStyle/>
                    <a:p>
                      <a:pPr indent="0" marL="0">
                        <a:buNone/>
                      </a:pPr>
                      <a:r>
                        <a:rPr lang="en-US" sz="1400" b="1" dirty="0">
                          <a:solidFill>
                            <a:srgbClr val="1A1A1A"/>
                          </a:solidFill>
                          <a:latin typeface="Consolas" pitchFamily="34" charset="0"/>
                          <a:ea typeface="Consolas" pitchFamily="34" charset="-122"/>
                          <a:cs typeface="Consolas" pitchFamily="34" charset="-120"/>
                        </a:rPr>
                        <a:t>Endpoint</a:t>
                      </a:r>
                      <a:endParaRPr lang="en-US" sz="14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0F0"/>
                    </a:solidFill>
                  </a:tcPr>
                </a:tc>
                <a:tc>
                  <a:txBody>
                    <a:bodyPr/>
                    <a:lstStyle/>
                    <a:p>
                      <a:pPr indent="0" marL="0">
                        <a:buNone/>
                      </a:pPr>
                      <a:r>
                        <a:rPr lang="en-US" sz="1400" b="1" dirty="0">
                          <a:solidFill>
                            <a:srgbClr val="1A1A1A"/>
                          </a:solidFill>
                          <a:latin typeface="Consolas" pitchFamily="34" charset="0"/>
                          <a:ea typeface="Consolas" pitchFamily="34" charset="-122"/>
                          <a:cs typeface="Consolas" pitchFamily="34" charset="-120"/>
                        </a:rPr>
                        <a:t>Description</a:t>
                      </a:r>
                      <a:endParaRPr lang="en-US" sz="14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0F0"/>
                    </a:solidFill>
                  </a:tcPr>
                </a:tc>
              </a:tr>
              <a:tr h="457200">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GET</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/api/expenses</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Fetch all expenses, sorted by most recent</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POST</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/api/expenses</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Create a new expense (description, amount, category, date)</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PUT</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/api/expenses/:id</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Update an existing expense by its ID</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DELETE</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/api/expenses/:id</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Delete an expense by its ID</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GET</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/api/budget</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Fetch the current monthly budget</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PUT</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/api/budget</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1A1A1A"/>
                          </a:solidFill>
                          <a:latin typeface="Consolas" pitchFamily="34" charset="0"/>
                          <a:ea typeface="Consolas" pitchFamily="34" charset="-122"/>
                          <a:cs typeface="Consolas" pitchFamily="34" charset="-120"/>
                        </a:rPr>
                        <a:t>Update the monthly budget amount</a:t>
                      </a:r>
                      <a:endParaRPr lang="en-US" sz="1300" dirty="0">
                        <a:latin typeface="Consolas" charset="0"/>
                        <a:ea typeface="Consolas" charset="0"/>
                        <a:cs typeface="Consolas"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640080" y="5120640"/>
            <a:ext cx="10972800" cy="365760"/>
          </a:xfrm>
          <a:prstGeom prst="rect">
            <a:avLst/>
          </a:prstGeom>
          <a:noFill/>
          <a:ln/>
        </p:spPr>
        <p:txBody>
          <a:bodyPr wrap="square"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Sample Request</a:t>
            </a:r>
            <a:endParaRPr lang="en-US" sz="1600" dirty="0"/>
          </a:p>
        </p:txBody>
      </p:sp>
      <p:sp>
        <p:nvSpPr>
          <p:cNvPr id="6" name="Shape 3"/>
          <p:cNvSpPr/>
          <p:nvPr/>
        </p:nvSpPr>
        <p:spPr>
          <a:xfrm>
            <a:off x="640080" y="5532120"/>
            <a:ext cx="10881360" cy="960120"/>
          </a:xfrm>
          <a:prstGeom prst="rect">
            <a:avLst/>
          </a:prstGeom>
          <a:solidFill>
            <a:srgbClr val="F5F5F5"/>
          </a:solidFill>
          <a:ln w="6350">
            <a:solidFill>
              <a:srgbClr val="DDDDDD"/>
            </a:solidFill>
            <a:prstDash val="solid"/>
          </a:ln>
        </p:spPr>
      </p:sp>
      <p:sp>
        <p:nvSpPr>
          <p:cNvPr id="7" name="Text 4"/>
          <p:cNvSpPr/>
          <p:nvPr/>
        </p:nvSpPr>
        <p:spPr>
          <a:xfrm>
            <a:off x="777240" y="5623560"/>
            <a:ext cx="10607040" cy="822960"/>
          </a:xfrm>
          <a:prstGeom prst="rect">
            <a:avLst/>
          </a:prstGeom>
          <a:noFill/>
          <a:ln/>
        </p:spPr>
        <p:txBody>
          <a:bodyPr wrap="square" rtlCol="0" anchor="ctr"/>
          <a:lstStyle/>
          <a:p>
            <a:pPr indent="0" marL="0">
              <a:buNone/>
            </a:pPr>
            <a:r>
              <a:rPr lang="en-US" sz="1100" dirty="0">
                <a:solidFill>
                  <a:srgbClr val="1A1A1A"/>
                </a:solidFill>
                <a:latin typeface="Consolas" pitchFamily="34" charset="0"/>
                <a:ea typeface="Consolas" pitchFamily="34" charset="-122"/>
                <a:cs typeface="Consolas" pitchFamily="34" charset="-120"/>
              </a:rPr>
              <a:t>POST http://localhost:5000/api/expenses</a:t>
            </a:r>
            <a:endParaRPr lang="en-US" sz="1100" dirty="0"/>
          </a:p>
          <a:p>
            <a:pPr indent="0" marL="0">
              <a:buNone/>
            </a:pPr>
            <a:r>
              <a:rPr lang="en-US" sz="1100" dirty="0">
                <a:solidFill>
                  <a:srgbClr val="1A1A1A"/>
                </a:solidFill>
                <a:latin typeface="Consolas" pitchFamily="34" charset="0"/>
                <a:ea typeface="Consolas" pitchFamily="34" charset="-122"/>
                <a:cs typeface="Consolas" pitchFamily="34" charset="-120"/>
              </a:rPr>
              <a:t>Content-Type: application/json</a:t>
            </a:r>
            <a:endParaRPr lang="en-US" sz="1100" dirty="0"/>
          </a:p>
          <a:p>
            <a:pPr indent="0" marL="0">
              <a:buNone/>
            </a:pPr>
            <a:endParaRPr lang="en-US" sz="1100" dirty="0"/>
          </a:p>
          <a:p>
            <a:pPr indent="0" marL="0">
              <a:buNone/>
            </a:pPr>
            <a:r>
              <a:rPr lang="en-US" sz="1100" dirty="0">
                <a:solidFill>
                  <a:srgbClr val="1A1A1A"/>
                </a:solidFill>
                <a:latin typeface="Consolas" pitchFamily="34" charset="0"/>
                <a:ea typeface="Consolas" pitchFamily="34" charset="-122"/>
                <a:cs typeface="Consolas" pitchFamily="34" charset="-120"/>
              </a:rPr>
              <a:t>{ "description": "Lunch", "amount": 12.50, "category": "food", "date": "2026-04-30" }</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200" b="1" dirty="0">
                <a:solidFill>
                  <a:srgbClr val="1A1A1A"/>
                </a:solidFill>
                <a:latin typeface="Calibri" pitchFamily="34" charset="0"/>
                <a:ea typeface="Calibri" pitchFamily="34" charset="-122"/>
                <a:cs typeface="Calibri" pitchFamily="34" charset="-120"/>
              </a:rPr>
              <a:t>Project Structure in VSCode</a:t>
            </a:r>
            <a:endParaRPr lang="en-US" sz="3200" dirty="0"/>
          </a:p>
        </p:txBody>
      </p:sp>
      <p:sp>
        <p:nvSpPr>
          <p:cNvPr id="3" name="Text 1"/>
          <p:cNvSpPr/>
          <p:nvPr/>
        </p:nvSpPr>
        <p:spPr>
          <a:xfrm>
            <a:off x="640080" y="1188720"/>
            <a:ext cx="6858000" cy="146304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The project is organized into two main folders following standard MERN conventions. The server folder contains the backend (config, models, controllers, routes), and the client folder contains the React frontend.</a:t>
            </a:r>
            <a:endParaRPr lang="en-US" sz="1400" dirty="0"/>
          </a:p>
        </p:txBody>
      </p:sp>
      <p:sp>
        <p:nvSpPr>
          <p:cNvPr id="4" name="Text 2"/>
          <p:cNvSpPr/>
          <p:nvPr/>
        </p:nvSpPr>
        <p:spPr>
          <a:xfrm>
            <a:off x="640080" y="2743200"/>
            <a:ext cx="6858000" cy="3657600"/>
          </a:xfrm>
          <a:prstGeom prst="rect">
            <a:avLst/>
          </a:prstGeom>
          <a:noFill/>
          <a:ln/>
        </p:spPr>
        <p:txBody>
          <a:bodyPr wrap="square" rtlCol="0" anchor="ctr"/>
          <a:lstStyle/>
          <a:p>
            <a:pPr indent="0" marL="0">
              <a:spcAft>
                <a:spcPts val="200"/>
              </a:spcAft>
              <a:buNone/>
            </a:pPr>
            <a:r>
              <a:rPr lang="en-US" sz="1200" b="1" dirty="0">
                <a:solidFill>
                  <a:srgbClr val="1A1A1A"/>
                </a:solidFill>
                <a:latin typeface="Consolas" pitchFamily="34" charset="0"/>
                <a:ea typeface="Consolas" pitchFamily="34" charset="-122"/>
                <a:cs typeface="Consolas" pitchFamily="34" charset="-120"/>
              </a:rPr>
              <a:t>server/</a:t>
            </a:r>
            <a:endParaRPr lang="en-US" sz="1200" dirty="0"/>
          </a:p>
          <a:p>
            <a:pPr indent="0" marL="0">
              <a:spcAft>
                <a:spcPts val="200"/>
              </a:spcAft>
              <a:buNone/>
            </a:pPr>
            <a:r>
              <a:rPr lang="en-US" sz="1200" dirty="0">
                <a:solidFill>
                  <a:srgbClr val="1A1A1A"/>
                </a:solidFill>
                <a:latin typeface="Consolas" pitchFamily="34" charset="0"/>
                <a:ea typeface="Consolas" pitchFamily="34" charset="-122"/>
                <a:cs typeface="Consolas" pitchFamily="34" charset="-120"/>
              </a:rPr>
              <a:t>  config/db.js — MongoDB connection</a:t>
            </a:r>
            <a:endParaRPr lang="en-US" sz="1200" dirty="0"/>
          </a:p>
          <a:p>
            <a:pPr indent="0" marL="0">
              <a:spcAft>
                <a:spcPts val="200"/>
              </a:spcAft>
              <a:buNone/>
            </a:pPr>
            <a:r>
              <a:rPr lang="en-US" sz="1200" dirty="0">
                <a:solidFill>
                  <a:srgbClr val="1A1A1A"/>
                </a:solidFill>
                <a:latin typeface="Consolas" pitchFamily="34" charset="0"/>
                <a:ea typeface="Consolas" pitchFamily="34" charset="-122"/>
                <a:cs typeface="Consolas" pitchFamily="34" charset="-120"/>
              </a:rPr>
              <a:t>  models/ — Expense and Budget schemas</a:t>
            </a:r>
            <a:endParaRPr lang="en-US" sz="1200" dirty="0"/>
          </a:p>
          <a:p>
            <a:pPr indent="0" marL="0">
              <a:spcAft>
                <a:spcPts val="200"/>
              </a:spcAft>
              <a:buNone/>
            </a:pPr>
            <a:r>
              <a:rPr lang="en-US" sz="1200" dirty="0">
                <a:solidFill>
                  <a:srgbClr val="1A1A1A"/>
                </a:solidFill>
                <a:latin typeface="Consolas" pitchFamily="34" charset="0"/>
                <a:ea typeface="Consolas" pitchFamily="34" charset="-122"/>
                <a:cs typeface="Consolas" pitchFamily="34" charset="-120"/>
              </a:rPr>
              <a:t>  controllers/ — CRUD logic</a:t>
            </a:r>
            <a:endParaRPr lang="en-US" sz="1200" dirty="0"/>
          </a:p>
          <a:p>
            <a:pPr indent="0" marL="0">
              <a:spcAft>
                <a:spcPts val="200"/>
              </a:spcAft>
              <a:buNone/>
            </a:pPr>
            <a:r>
              <a:rPr lang="en-US" sz="1200" dirty="0">
                <a:solidFill>
                  <a:srgbClr val="1A1A1A"/>
                </a:solidFill>
                <a:latin typeface="Consolas" pitchFamily="34" charset="0"/>
                <a:ea typeface="Consolas" pitchFamily="34" charset="-122"/>
                <a:cs typeface="Consolas" pitchFamily="34" charset="-120"/>
              </a:rPr>
              <a:t>  routes/ — API route definitions</a:t>
            </a:r>
            <a:endParaRPr lang="en-US" sz="1200" dirty="0"/>
          </a:p>
          <a:p>
            <a:pPr indent="0" marL="0">
              <a:spcAft>
                <a:spcPts val="200"/>
              </a:spcAft>
              <a:buNone/>
            </a:pPr>
            <a:r>
              <a:rPr lang="en-US" sz="1200" dirty="0">
                <a:solidFill>
                  <a:srgbClr val="1A1A1A"/>
                </a:solidFill>
                <a:latin typeface="Consolas" pitchFamily="34" charset="0"/>
                <a:ea typeface="Consolas" pitchFamily="34" charset="-122"/>
                <a:cs typeface="Consolas" pitchFamily="34" charset="-120"/>
              </a:rPr>
              <a:t>  server.js — Express entry point</a:t>
            </a:r>
            <a:endParaRPr lang="en-US" sz="1200" dirty="0"/>
          </a:p>
          <a:p>
            <a:pPr indent="0" marL="0">
              <a:spcAft>
                <a:spcPts val="200"/>
              </a:spcAft>
              <a:buNone/>
            </a:pPr>
            <a:endParaRPr lang="en-US" sz="1200" dirty="0"/>
          </a:p>
          <a:p>
            <a:pPr indent="0" marL="0">
              <a:spcAft>
                <a:spcPts val="200"/>
              </a:spcAft>
              <a:buNone/>
            </a:pPr>
            <a:r>
              <a:rPr lang="en-US" sz="1200" b="1" dirty="0">
                <a:solidFill>
                  <a:srgbClr val="1A1A1A"/>
                </a:solidFill>
                <a:latin typeface="Consolas" pitchFamily="34" charset="0"/>
                <a:ea typeface="Consolas" pitchFamily="34" charset="-122"/>
                <a:cs typeface="Consolas" pitchFamily="34" charset="-120"/>
              </a:rPr>
              <a:t>client/</a:t>
            </a:r>
            <a:endParaRPr lang="en-US" sz="1200" dirty="0"/>
          </a:p>
          <a:p>
            <a:pPr indent="0" marL="0">
              <a:spcAft>
                <a:spcPts val="200"/>
              </a:spcAft>
              <a:buNone/>
            </a:pPr>
            <a:r>
              <a:rPr lang="en-US" sz="1200" dirty="0">
                <a:solidFill>
                  <a:srgbClr val="1A1A1A"/>
                </a:solidFill>
                <a:latin typeface="Consolas" pitchFamily="34" charset="0"/>
                <a:ea typeface="Consolas" pitchFamily="34" charset="-122"/>
                <a:cs typeface="Consolas" pitchFamily="34" charset="-120"/>
              </a:rPr>
              <a:t>  src/App.jsx — Main React component</a:t>
            </a:r>
            <a:endParaRPr lang="en-US" sz="1200" dirty="0"/>
          </a:p>
          <a:p>
            <a:pPr indent="0" marL="0">
              <a:spcAft>
                <a:spcPts val="200"/>
              </a:spcAft>
              <a:buNone/>
            </a:pPr>
            <a:r>
              <a:rPr lang="en-US" sz="1200" dirty="0">
                <a:solidFill>
                  <a:srgbClr val="1A1A1A"/>
                </a:solidFill>
                <a:latin typeface="Consolas" pitchFamily="34" charset="0"/>
                <a:ea typeface="Consolas" pitchFamily="34" charset="-122"/>
                <a:cs typeface="Consolas" pitchFamily="34" charset="-120"/>
              </a:rPr>
              <a:t>  src/api.js — Axios API helper</a:t>
            </a:r>
            <a:endParaRPr lang="en-US" sz="1200" dirty="0"/>
          </a:p>
          <a:p>
            <a:pPr indent="0" marL="0">
              <a:spcAft>
                <a:spcPts val="200"/>
              </a:spcAft>
              <a:buNone/>
            </a:pPr>
            <a:r>
              <a:rPr lang="en-US" sz="1200" dirty="0">
                <a:solidFill>
                  <a:srgbClr val="1A1A1A"/>
                </a:solidFill>
                <a:latin typeface="Consolas" pitchFamily="34" charset="0"/>
                <a:ea typeface="Consolas" pitchFamily="34" charset="-122"/>
                <a:cs typeface="Consolas" pitchFamily="34" charset="-120"/>
              </a:rPr>
              <a:t>  src/main.jsx — React entry point</a:t>
            </a:r>
            <a:endParaRPr lang="en-US" sz="1200" dirty="0"/>
          </a:p>
        </p:txBody>
      </p:sp>
      <p:pic>
        <p:nvPicPr>
          <p:cNvPr id="5" name="Image 0" descr="folders.png">    </p:cNvPr>
          <p:cNvPicPr>
            <a:picLocks noChangeAspect="1"/>
          </p:cNvPicPr>
          <p:nvPr/>
        </p:nvPicPr>
        <p:blipFill>
          <a:blip r:embed="rId1"/>
          <a:stretch>
            <a:fillRect/>
          </a:stretch>
        </p:blipFill>
        <p:spPr>
          <a:xfrm>
            <a:off x="8607987" y="1188720"/>
            <a:ext cx="2260745" cy="5394960"/>
          </a:xfrm>
          <a:prstGeom prst="rect">
            <a:avLst/>
          </a:prstGeom>
        </p:spPr>
      </p:pic>
      <p:sp>
        <p:nvSpPr>
          <p:cNvPr id="6" name="Shape 3"/>
          <p:cNvSpPr/>
          <p:nvPr/>
        </p:nvSpPr>
        <p:spPr>
          <a:xfrm>
            <a:off x="8607987" y="1188720"/>
            <a:ext cx="2260745" cy="5394960"/>
          </a:xfrm>
          <a:prstGeom prst="rect">
            <a:avLst/>
          </a:prstGeom>
          <a:ln w="9525">
            <a:solidFill>
              <a:srgbClr val="BBBBBB"/>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548640"/>
          </a:xfrm>
          <a:prstGeom prst="rect">
            <a:avLst/>
          </a:prstGeom>
          <a:noFill/>
          <a:ln/>
        </p:spPr>
        <p:txBody>
          <a:bodyPr wrap="square"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Main Dashboard</a:t>
            </a:r>
            <a:endParaRPr lang="en-US" sz="2800" dirty="0"/>
          </a:p>
        </p:txBody>
      </p:sp>
      <p:sp>
        <p:nvSpPr>
          <p:cNvPr id="3" name="Text 1"/>
          <p:cNvSpPr/>
          <p:nvPr/>
        </p:nvSpPr>
        <p:spPr>
          <a:xfrm>
            <a:off x="640080" y="960120"/>
            <a:ext cx="10972800" cy="640080"/>
          </a:xfrm>
          <a:prstGeom prst="rect">
            <a:avLst/>
          </a:prstGeom>
          <a:noFill/>
          <a:ln/>
        </p:spPr>
        <p:txBody>
          <a:bodyPr wrap="square" rtlCol="0" anchor="ctr"/>
          <a:lstStyle/>
          <a:p>
            <a:pPr indent="0" marL="0">
              <a:buNone/>
            </a:pPr>
            <a:r>
              <a:rPr lang="en-US" sz="1300" dirty="0">
                <a:solidFill>
                  <a:srgbClr val="555555"/>
                </a:solidFill>
                <a:latin typeface="Calibri" pitchFamily="34" charset="0"/>
                <a:ea typeface="Calibri" pitchFamily="34" charset="-122"/>
                <a:cs typeface="Calibri" pitchFamily="34" charset="-120"/>
              </a:rPr>
              <a:t>The dashboard shows total spent for the month, a live budget progress bar, and four key statistics: all-time spent, total transactions, daily average, and top spending category.</a:t>
            </a:r>
            <a:endParaRPr lang="en-US" sz="1300" dirty="0"/>
          </a:p>
        </p:txBody>
      </p:sp>
      <p:pic>
        <p:nvPicPr>
          <p:cNvPr id="4" name="Image 0" descr="dashboard.png">    </p:cNvPr>
          <p:cNvPicPr>
            <a:picLocks noChangeAspect="1"/>
          </p:cNvPicPr>
          <p:nvPr/>
        </p:nvPicPr>
        <p:blipFill>
          <a:blip r:embed="rId1"/>
          <a:stretch>
            <a:fillRect/>
          </a:stretch>
        </p:blipFill>
        <p:spPr>
          <a:xfrm>
            <a:off x="1691640" y="1691640"/>
            <a:ext cx="8778240" cy="4937760"/>
          </a:xfrm>
          <a:prstGeom prst="rect">
            <a:avLst/>
          </a:prstGeom>
        </p:spPr>
      </p:pic>
      <p:sp>
        <p:nvSpPr>
          <p:cNvPr id="5" name="Shape 2"/>
          <p:cNvSpPr/>
          <p:nvPr/>
        </p:nvSpPr>
        <p:spPr>
          <a:xfrm>
            <a:off x="1691640" y="1691640"/>
            <a:ext cx="8778240" cy="4937760"/>
          </a:xfrm>
          <a:prstGeom prst="rect">
            <a:avLst/>
          </a:prstGeom>
          <a:ln w="9525">
            <a:solidFill>
              <a:srgbClr val="BBBBBB"/>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548640"/>
          </a:xfrm>
          <a:prstGeom prst="rect">
            <a:avLst/>
          </a:prstGeom>
          <a:noFill/>
          <a:ln/>
        </p:spPr>
        <p:txBody>
          <a:bodyPr wrap="square"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Adding a New Expense (Create)</a:t>
            </a:r>
            <a:endParaRPr lang="en-US" sz="2800" dirty="0"/>
          </a:p>
        </p:txBody>
      </p:sp>
      <p:sp>
        <p:nvSpPr>
          <p:cNvPr id="3" name="Text 1"/>
          <p:cNvSpPr/>
          <p:nvPr/>
        </p:nvSpPr>
        <p:spPr>
          <a:xfrm>
            <a:off x="640080" y="960120"/>
            <a:ext cx="10972800" cy="82296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Clicking the New Expense button opens a modal with fields for description, amount, date, and category. The form sends a POST request to /api/expenses, which creates a new document in MongoDB.</a:t>
            </a:r>
            <a:endParaRPr lang="en-US" sz="1400" dirty="0"/>
          </a:p>
        </p:txBody>
      </p:sp>
      <p:pic>
        <p:nvPicPr>
          <p:cNvPr id="4" name="Image 0" descr="modal.png">    </p:cNvPr>
          <p:cNvPicPr>
            <a:picLocks noChangeAspect="1"/>
          </p:cNvPicPr>
          <p:nvPr/>
        </p:nvPicPr>
        <p:blipFill>
          <a:blip r:embed="rId1"/>
          <a:stretch>
            <a:fillRect/>
          </a:stretch>
        </p:blipFill>
        <p:spPr>
          <a:xfrm>
            <a:off x="1371600" y="1851343"/>
            <a:ext cx="5029200" cy="4709794"/>
          </a:xfrm>
          <a:prstGeom prst="rect">
            <a:avLst/>
          </a:prstGeom>
        </p:spPr>
      </p:pic>
      <p:sp>
        <p:nvSpPr>
          <p:cNvPr id="5" name="Shape 2"/>
          <p:cNvSpPr/>
          <p:nvPr/>
        </p:nvSpPr>
        <p:spPr>
          <a:xfrm>
            <a:off x="1371600" y="1851343"/>
            <a:ext cx="5029200" cy="4709794"/>
          </a:xfrm>
          <a:prstGeom prst="rect">
            <a:avLst/>
          </a:prstGeom>
          <a:ln w="9525">
            <a:solidFill>
              <a:srgbClr val="BBBBBB"/>
            </a:solidFill>
            <a:prstDash val="solid"/>
          </a:ln>
        </p:spPr>
      </p:sp>
      <p:sp>
        <p:nvSpPr>
          <p:cNvPr id="6" name="Text 3"/>
          <p:cNvSpPr/>
          <p:nvPr/>
        </p:nvSpPr>
        <p:spPr>
          <a:xfrm>
            <a:off x="6858000" y="1920240"/>
            <a:ext cx="4572000" cy="365760"/>
          </a:xfrm>
          <a:prstGeom prst="rect">
            <a:avLst/>
          </a:prstGeom>
          <a:noFill/>
          <a:ln/>
        </p:spPr>
        <p:txBody>
          <a:bodyPr wrap="square"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Form Fields</a:t>
            </a:r>
            <a:endParaRPr lang="en-US" sz="1800" dirty="0"/>
          </a:p>
        </p:txBody>
      </p:sp>
      <p:sp>
        <p:nvSpPr>
          <p:cNvPr id="7" name="Text 4"/>
          <p:cNvSpPr/>
          <p:nvPr/>
        </p:nvSpPr>
        <p:spPr>
          <a:xfrm>
            <a:off x="6858000" y="2331720"/>
            <a:ext cx="4572000" cy="1828800"/>
          </a:xfrm>
          <a:prstGeom prst="rect">
            <a:avLst/>
          </a:prstGeom>
          <a:noFill/>
          <a:ln/>
        </p:spPr>
        <p:txBody>
          <a:bodyPr wrap="square" rtlCol="0" anchor="ctr"/>
          <a:lstStyle/>
          <a:p>
            <a:pPr marL="342900" indent="-342900">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Description: short label for the expense</a:t>
            </a:r>
            <a:endParaRPr lang="en-US" sz="1300" dirty="0"/>
          </a:p>
          <a:p>
            <a:pPr marL="342900" indent="-342900">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Amount: numeric value in dollars</a:t>
            </a:r>
            <a:endParaRPr lang="en-US" sz="1300" dirty="0"/>
          </a:p>
          <a:p>
            <a:pPr marL="342900" indent="-342900">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Date: defaults to today</a:t>
            </a:r>
            <a:endParaRPr lang="en-US" sz="1300" dirty="0"/>
          </a:p>
          <a:p>
            <a:pPr marL="342900" indent="-342900">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Category: choose from eight options</a:t>
            </a:r>
            <a:endParaRPr lang="en-US" sz="1300" dirty="0"/>
          </a:p>
        </p:txBody>
      </p:sp>
      <p:sp>
        <p:nvSpPr>
          <p:cNvPr id="8" name="Text 5"/>
          <p:cNvSpPr/>
          <p:nvPr/>
        </p:nvSpPr>
        <p:spPr>
          <a:xfrm>
            <a:off x="6858000" y="4297680"/>
            <a:ext cx="4572000" cy="365760"/>
          </a:xfrm>
          <a:prstGeom prst="rect">
            <a:avLst/>
          </a:prstGeom>
          <a:noFill/>
          <a:ln/>
        </p:spPr>
        <p:txBody>
          <a:bodyPr wrap="square"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Validation</a:t>
            </a:r>
            <a:endParaRPr lang="en-US" sz="1800" dirty="0"/>
          </a:p>
        </p:txBody>
      </p:sp>
      <p:sp>
        <p:nvSpPr>
          <p:cNvPr id="9" name="Text 6"/>
          <p:cNvSpPr/>
          <p:nvPr/>
        </p:nvSpPr>
        <p:spPr>
          <a:xfrm>
            <a:off x="6858000" y="4709160"/>
            <a:ext cx="4572000" cy="137160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Mongoose schema enforces required fields, positive amount, and valid category enum on the backend before saving to MongoDB.</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548640"/>
          </a:xfrm>
          <a:prstGeom prst="rect">
            <a:avLst/>
          </a:prstGeom>
          <a:noFill/>
          <a:ln/>
        </p:spPr>
        <p:txBody>
          <a:bodyPr wrap="square"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Charts and Statistics</a:t>
            </a:r>
            <a:endParaRPr lang="en-US" sz="2800" dirty="0"/>
          </a:p>
        </p:txBody>
      </p:sp>
      <p:sp>
        <p:nvSpPr>
          <p:cNvPr id="3" name="Text 1"/>
          <p:cNvSpPr/>
          <p:nvPr/>
        </p:nvSpPr>
        <p:spPr>
          <a:xfrm>
            <a:off x="640080" y="960120"/>
            <a:ext cx="10972800" cy="82296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The dashboard includes two interactive charts powered by the Recharts library. The area chart visualizes spending velocity over the last seven days, and the donut chart shows total spending broken down by category.</a:t>
            </a:r>
            <a:endParaRPr lang="en-US" sz="1400" dirty="0"/>
          </a:p>
        </p:txBody>
      </p:sp>
      <p:pic>
        <p:nvPicPr>
          <p:cNvPr id="4" name="Image 0" descr="charts.png">    </p:cNvPr>
          <p:cNvPicPr>
            <a:picLocks noChangeAspect="1"/>
          </p:cNvPicPr>
          <p:nvPr/>
        </p:nvPicPr>
        <p:blipFill>
          <a:blip r:embed="rId1"/>
          <a:stretch>
            <a:fillRect/>
          </a:stretch>
        </p:blipFill>
        <p:spPr>
          <a:xfrm>
            <a:off x="1278609" y="1828800"/>
            <a:ext cx="9604301" cy="4754880"/>
          </a:xfrm>
          <a:prstGeom prst="rect">
            <a:avLst/>
          </a:prstGeom>
        </p:spPr>
      </p:pic>
      <p:sp>
        <p:nvSpPr>
          <p:cNvPr id="5" name="Shape 2"/>
          <p:cNvSpPr/>
          <p:nvPr/>
        </p:nvSpPr>
        <p:spPr>
          <a:xfrm>
            <a:off x="1278609" y="1828800"/>
            <a:ext cx="9604301" cy="4754880"/>
          </a:xfrm>
          <a:prstGeom prst="rect">
            <a:avLst/>
          </a:prstGeom>
          <a:ln w="9525">
            <a:solidFill>
              <a:srgbClr val="BBBBBB"/>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548640"/>
          </a:xfrm>
          <a:prstGeom prst="rect">
            <a:avLst/>
          </a:prstGeom>
          <a:noFill/>
          <a:ln/>
        </p:spPr>
        <p:txBody>
          <a:bodyPr wrap="square"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Budget Tracking</a:t>
            </a:r>
            <a:endParaRPr lang="en-US" sz="2800" dirty="0"/>
          </a:p>
        </p:txBody>
      </p:sp>
      <p:sp>
        <p:nvSpPr>
          <p:cNvPr id="3" name="Text 1"/>
          <p:cNvSpPr/>
          <p:nvPr/>
        </p:nvSpPr>
        <p:spPr>
          <a:xfrm>
            <a:off x="640080" y="960120"/>
            <a:ext cx="10972800" cy="82296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When the total spent for the month exceeds the budget, the progress bar turns red and displays the amount over budget. The budget itself is editable and persists in MongoDB.</a:t>
            </a:r>
            <a:endParaRPr lang="en-US" sz="1400" dirty="0"/>
          </a:p>
        </p:txBody>
      </p:sp>
      <p:pic>
        <p:nvPicPr>
          <p:cNvPr id="4" name="Image 0" descr="overbudget.png">    </p:cNvPr>
          <p:cNvPicPr>
            <a:picLocks noChangeAspect="1"/>
          </p:cNvPicPr>
          <p:nvPr/>
        </p:nvPicPr>
        <p:blipFill>
          <a:blip r:embed="rId1"/>
          <a:stretch>
            <a:fillRect/>
          </a:stretch>
        </p:blipFill>
        <p:spPr>
          <a:xfrm>
            <a:off x="1238188" y="1828800"/>
            <a:ext cx="9685145" cy="4754880"/>
          </a:xfrm>
          <a:prstGeom prst="rect">
            <a:avLst/>
          </a:prstGeom>
        </p:spPr>
      </p:pic>
      <p:sp>
        <p:nvSpPr>
          <p:cNvPr id="5" name="Shape 2"/>
          <p:cNvSpPr/>
          <p:nvPr/>
        </p:nvSpPr>
        <p:spPr>
          <a:xfrm>
            <a:off x="1238188" y="1828800"/>
            <a:ext cx="9685145" cy="4754880"/>
          </a:xfrm>
          <a:prstGeom prst="rect">
            <a:avLst/>
          </a:prstGeom>
          <a:ln w="9525">
            <a:solidFill>
              <a:srgbClr val="BBBBBB"/>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548640"/>
          </a:xfrm>
          <a:prstGeom prst="rect">
            <a:avLst/>
          </a:prstGeom>
          <a:noFill/>
          <a:ln/>
        </p:spPr>
        <p:txBody>
          <a:bodyPr wrap="square"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Search and Filter</a:t>
            </a:r>
            <a:endParaRPr lang="en-US" sz="2800" dirty="0"/>
          </a:p>
        </p:txBody>
      </p:sp>
      <p:sp>
        <p:nvSpPr>
          <p:cNvPr id="3" name="Text 1"/>
          <p:cNvSpPr/>
          <p:nvPr/>
        </p:nvSpPr>
        <p:spPr>
          <a:xfrm>
            <a:off x="640080" y="960120"/>
            <a:ext cx="10972800" cy="82296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The transaction list supports real-time search by description and filtering by category. In this example, typing "bir" in the search box filters the list to show only the matching biryani entry.</a:t>
            </a:r>
            <a:endParaRPr lang="en-US" sz="1400" dirty="0"/>
          </a:p>
        </p:txBody>
      </p:sp>
      <p:pic>
        <p:nvPicPr>
          <p:cNvPr id="4" name="Image 0" descr="search.png">    </p:cNvPr>
          <p:cNvPicPr>
            <a:picLocks noChangeAspect="1"/>
          </p:cNvPicPr>
          <p:nvPr/>
        </p:nvPicPr>
        <p:blipFill>
          <a:blip r:embed="rId1"/>
          <a:stretch>
            <a:fillRect/>
          </a:stretch>
        </p:blipFill>
        <p:spPr>
          <a:xfrm>
            <a:off x="640080" y="2793825"/>
            <a:ext cx="10881360" cy="2824830"/>
          </a:xfrm>
          <a:prstGeom prst="rect">
            <a:avLst/>
          </a:prstGeom>
        </p:spPr>
      </p:pic>
      <p:sp>
        <p:nvSpPr>
          <p:cNvPr id="5" name="Shape 2"/>
          <p:cNvSpPr/>
          <p:nvPr/>
        </p:nvSpPr>
        <p:spPr>
          <a:xfrm>
            <a:off x="640080" y="2793825"/>
            <a:ext cx="10881360" cy="2824830"/>
          </a:xfrm>
          <a:prstGeom prst="rect">
            <a:avLst/>
          </a:prstGeom>
          <a:ln w="9525">
            <a:solidFill>
              <a:srgbClr val="BBBBBB"/>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548640"/>
          </a:xfrm>
          <a:prstGeom prst="rect">
            <a:avLst/>
          </a:prstGeom>
          <a:noFill/>
          <a:ln/>
        </p:spPr>
        <p:txBody>
          <a:bodyPr wrap="square"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Data Persistence in MongoDB Atlas</a:t>
            </a:r>
            <a:endParaRPr lang="en-US" sz="2800" dirty="0"/>
          </a:p>
        </p:txBody>
      </p:sp>
      <p:sp>
        <p:nvSpPr>
          <p:cNvPr id="3" name="Text 1"/>
          <p:cNvSpPr/>
          <p:nvPr/>
        </p:nvSpPr>
        <p:spPr>
          <a:xfrm>
            <a:off x="640080" y="960120"/>
            <a:ext cx="10972800" cy="82296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All expense data is stored in MongoDB Atlas, a cloud-hosted NoSQL database. The screenshot below shows the expense-tracker database with the expenses collection containing four real documents created through the application.</a:t>
            </a:r>
            <a:endParaRPr lang="en-US" sz="1400" dirty="0"/>
          </a:p>
        </p:txBody>
      </p:sp>
      <p:pic>
        <p:nvPicPr>
          <p:cNvPr id="4" name="Image 0" descr="mongodb.png">    </p:cNvPr>
          <p:cNvPicPr>
            <a:picLocks noChangeAspect="1"/>
          </p:cNvPicPr>
          <p:nvPr/>
        </p:nvPicPr>
        <p:blipFill>
          <a:blip r:embed="rId1"/>
          <a:stretch>
            <a:fillRect/>
          </a:stretch>
        </p:blipFill>
        <p:spPr>
          <a:xfrm>
            <a:off x="1129055" y="1828800"/>
            <a:ext cx="9903410" cy="4754880"/>
          </a:xfrm>
          <a:prstGeom prst="rect">
            <a:avLst/>
          </a:prstGeom>
        </p:spPr>
      </p:pic>
      <p:sp>
        <p:nvSpPr>
          <p:cNvPr id="5" name="Shape 2"/>
          <p:cNvSpPr/>
          <p:nvPr/>
        </p:nvSpPr>
        <p:spPr>
          <a:xfrm>
            <a:off x="1129055" y="1828800"/>
            <a:ext cx="9903410" cy="4754880"/>
          </a:xfrm>
          <a:prstGeom prst="rect">
            <a:avLst/>
          </a:prstGeom>
          <a:ln w="9525">
            <a:solidFill>
              <a:srgbClr val="BBBBBB"/>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200" b="1" dirty="0">
                <a:solidFill>
                  <a:srgbClr val="1A1A1A"/>
                </a:solidFill>
                <a:latin typeface="Calibri" pitchFamily="34" charset="0"/>
                <a:ea typeface="Calibri" pitchFamily="34" charset="-122"/>
                <a:cs typeface="Calibri" pitchFamily="34" charset="-120"/>
              </a:rPr>
              <a:t>Testing the Application</a:t>
            </a:r>
            <a:endParaRPr lang="en-US" sz="3200" dirty="0"/>
          </a:p>
        </p:txBody>
      </p:sp>
      <p:sp>
        <p:nvSpPr>
          <p:cNvPr id="3" name="Text 1"/>
          <p:cNvSpPr/>
          <p:nvPr/>
        </p:nvSpPr>
        <p:spPr>
          <a:xfrm>
            <a:off x="640080" y="1188720"/>
            <a:ext cx="10972800" cy="457200"/>
          </a:xfrm>
          <a:prstGeom prst="rect">
            <a:avLst/>
          </a:prstGeom>
          <a:noFill/>
          <a:ln/>
        </p:spPr>
        <p:txBody>
          <a:bodyPr wrap="square" rtlCol="0" anchor="ctr"/>
          <a:lstStyle/>
          <a:p>
            <a:pPr indent="0" marL="0">
              <a:buNone/>
            </a:pPr>
            <a:r>
              <a:rPr lang="en-US" sz="1500" dirty="0">
                <a:solidFill>
                  <a:srgbClr val="555555"/>
                </a:solidFill>
                <a:latin typeface="Calibri" pitchFamily="34" charset="0"/>
                <a:ea typeface="Calibri" pitchFamily="34" charset="-122"/>
                <a:cs typeface="Calibri" pitchFamily="34" charset="-120"/>
              </a:rPr>
              <a:t>The application was tested manually for all functionality and all four CRUD operations.</a:t>
            </a:r>
            <a:endParaRPr lang="en-US" sz="1500" dirty="0"/>
          </a:p>
        </p:txBody>
      </p:sp>
      <p:sp>
        <p:nvSpPr>
          <p:cNvPr id="4" name="Text 2"/>
          <p:cNvSpPr/>
          <p:nvPr/>
        </p:nvSpPr>
        <p:spPr>
          <a:xfrm>
            <a:off x="640080" y="1828800"/>
            <a:ext cx="10972800" cy="457200"/>
          </a:xfrm>
          <a:prstGeom prst="rect">
            <a:avLst/>
          </a:prstGeom>
          <a:noFill/>
          <a:ln/>
        </p:spPr>
        <p:txBody>
          <a:bodyPr wrap="square"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Frontend Testing</a:t>
            </a:r>
            <a:endParaRPr lang="en-US" sz="1800" dirty="0"/>
          </a:p>
        </p:txBody>
      </p:sp>
      <p:sp>
        <p:nvSpPr>
          <p:cNvPr id="5" name="Text 3"/>
          <p:cNvSpPr/>
          <p:nvPr/>
        </p:nvSpPr>
        <p:spPr>
          <a:xfrm>
            <a:off x="640080" y="2286000"/>
            <a:ext cx="10972800" cy="1645920"/>
          </a:xfrm>
          <a:prstGeom prst="rect">
            <a:avLst/>
          </a:prstGeom>
          <a:noFill/>
          <a:ln/>
        </p:spPr>
        <p:txBody>
          <a:bodyPr wrap="square" rtlCol="0" anchor="ctr"/>
          <a:lstStyle/>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Verified the page loads with no console errors</a:t>
            </a:r>
            <a:endParaRPr lang="en-US" sz="1300" dirty="0"/>
          </a:p>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Confirmed expenses can be added, edited, and deleted from the UI</a:t>
            </a:r>
            <a:endParaRPr lang="en-US" sz="1300" dirty="0"/>
          </a:p>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Tested data persistence by refreshing the browser after each operation</a:t>
            </a:r>
            <a:endParaRPr lang="en-US" sz="1300" dirty="0"/>
          </a:p>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Verified the budget update and over-budget visual state</a:t>
            </a:r>
            <a:endParaRPr lang="en-US" sz="1300" dirty="0"/>
          </a:p>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Confirmed search and category filter work in real time</a:t>
            </a:r>
            <a:endParaRPr lang="en-US" sz="1300" dirty="0"/>
          </a:p>
        </p:txBody>
      </p:sp>
      <p:sp>
        <p:nvSpPr>
          <p:cNvPr id="6" name="Text 4"/>
          <p:cNvSpPr/>
          <p:nvPr/>
        </p:nvSpPr>
        <p:spPr>
          <a:xfrm>
            <a:off x="640080" y="4023360"/>
            <a:ext cx="10972800" cy="457200"/>
          </a:xfrm>
          <a:prstGeom prst="rect">
            <a:avLst/>
          </a:prstGeom>
          <a:noFill/>
          <a:ln/>
        </p:spPr>
        <p:txBody>
          <a:bodyPr wrap="square"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Backend Testing</a:t>
            </a:r>
            <a:endParaRPr lang="en-US" sz="1800" dirty="0"/>
          </a:p>
        </p:txBody>
      </p:sp>
      <p:sp>
        <p:nvSpPr>
          <p:cNvPr id="7" name="Text 5"/>
          <p:cNvSpPr/>
          <p:nvPr/>
        </p:nvSpPr>
        <p:spPr>
          <a:xfrm>
            <a:off x="640080" y="4480560"/>
            <a:ext cx="10972800" cy="1645920"/>
          </a:xfrm>
          <a:prstGeom prst="rect">
            <a:avLst/>
          </a:prstGeom>
          <a:noFill/>
          <a:ln/>
        </p:spPr>
        <p:txBody>
          <a:bodyPr wrap="square" rtlCol="0" anchor="ctr"/>
          <a:lstStyle/>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Tested all six API endpoints (GET, POST, PUT, DELETE) directly using HTTP requests</a:t>
            </a:r>
            <a:endParaRPr lang="en-US" sz="1300" dirty="0"/>
          </a:p>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Verified Mongoose schema validation rejects invalid data (negative amounts, unknown categories)</a:t>
            </a:r>
            <a:endParaRPr lang="en-US" sz="1300" dirty="0"/>
          </a:p>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Confirmed CORS allows the frontend to communicate with the backend</a:t>
            </a:r>
            <a:endParaRPr lang="en-US" sz="1300" dirty="0"/>
          </a:p>
          <a:p>
            <a:pPr marL="342900" indent="-342900">
              <a:spcAft>
                <a:spcPts val="300"/>
              </a:spcAft>
              <a:buSzPct val="100000"/>
              <a:buChar char="•"/>
            </a:pPr>
            <a:r>
              <a:rPr lang="en-US" sz="1300" dirty="0">
                <a:solidFill>
                  <a:srgbClr val="1A1A1A"/>
                </a:solidFill>
                <a:latin typeface="Calibri" pitchFamily="34" charset="0"/>
                <a:ea typeface="Calibri" pitchFamily="34" charset="-122"/>
                <a:cs typeface="Calibri" pitchFamily="34" charset="-120"/>
              </a:rPr>
              <a:t>Verified database documents in MongoDB Atlas match what the UI displayed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200" b="1" dirty="0">
                <a:solidFill>
                  <a:srgbClr val="1A1A1A"/>
                </a:solidFill>
                <a:latin typeface="Calibri" pitchFamily="34" charset="0"/>
                <a:ea typeface="Calibri" pitchFamily="34" charset="-122"/>
                <a:cs typeface="Calibri" pitchFamily="34" charset="-120"/>
              </a:rPr>
              <a:t>Challenges and Learnings</a:t>
            </a:r>
            <a:endParaRPr lang="en-US" sz="3200" dirty="0"/>
          </a:p>
        </p:txBody>
      </p:sp>
      <p:sp>
        <p:nvSpPr>
          <p:cNvPr id="3" name="Text 1"/>
          <p:cNvSpPr/>
          <p:nvPr/>
        </p:nvSpPr>
        <p:spPr>
          <a:xfrm>
            <a:off x="640080" y="1371600"/>
            <a:ext cx="10972800" cy="457200"/>
          </a:xfrm>
          <a:prstGeom prst="rect">
            <a:avLst/>
          </a:prstGeom>
          <a:noFill/>
          <a:ln/>
        </p:spPr>
        <p:txBody>
          <a:bodyPr wrap="square"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Challenges</a:t>
            </a:r>
            <a:endParaRPr lang="en-US" sz="2000" dirty="0"/>
          </a:p>
        </p:txBody>
      </p:sp>
      <p:sp>
        <p:nvSpPr>
          <p:cNvPr id="4" name="Text 2"/>
          <p:cNvSpPr/>
          <p:nvPr/>
        </p:nvSpPr>
        <p:spPr>
          <a:xfrm>
            <a:off x="640080" y="1828800"/>
            <a:ext cx="10972800" cy="1737360"/>
          </a:xfrm>
          <a:prstGeom prst="rect">
            <a:avLst/>
          </a:prstGeom>
          <a:noFill/>
          <a:ln/>
        </p:spPr>
        <p:txBody>
          <a:bodyPr wrap="square" rtlCol="0" anchor="ctr"/>
          <a:lstStyle/>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Connecting MongoDB Atlas required configuring IP whitelisting and URL-encoding the password in the connection string</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Coordinating two separate servers (frontend on port 3000, backend on port 5000) needed CORS configuration</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Implementing the edit-expense feature required reusing the modal for both create and update operations</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Calculating monthly statistics required handling JavaScript date comparisons correctly across time zones</a:t>
            </a:r>
            <a:endParaRPr lang="en-US" sz="1400" dirty="0"/>
          </a:p>
        </p:txBody>
      </p:sp>
      <p:sp>
        <p:nvSpPr>
          <p:cNvPr id="5" name="Text 3"/>
          <p:cNvSpPr/>
          <p:nvPr/>
        </p:nvSpPr>
        <p:spPr>
          <a:xfrm>
            <a:off x="640080" y="3749040"/>
            <a:ext cx="10972800" cy="457200"/>
          </a:xfrm>
          <a:prstGeom prst="rect">
            <a:avLst/>
          </a:prstGeom>
          <a:noFill/>
          <a:ln/>
        </p:spPr>
        <p:txBody>
          <a:bodyPr wrap="square"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Key Learnings</a:t>
            </a:r>
            <a:endParaRPr lang="en-US" sz="2000" dirty="0"/>
          </a:p>
        </p:txBody>
      </p:sp>
      <p:sp>
        <p:nvSpPr>
          <p:cNvPr id="6" name="Text 4"/>
          <p:cNvSpPr/>
          <p:nvPr/>
        </p:nvSpPr>
        <p:spPr>
          <a:xfrm>
            <a:off x="640080" y="4206240"/>
            <a:ext cx="10972800" cy="2194560"/>
          </a:xfrm>
          <a:prstGeom prst="rect">
            <a:avLst/>
          </a:prstGeom>
          <a:noFill/>
          <a:ln/>
        </p:spPr>
        <p:txBody>
          <a:bodyPr wrap="square" rtlCol="0" anchor="ctr"/>
          <a:lstStyle/>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Designing a clean REST API with proper separation of routes, controllers, and models</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Using Mongoose schemas to enforce data validation at the database layer rather than only in the UI</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Managing application state in React with hooks (useState, useEffect, useMemo)</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Building a complete full-stack application from scratch and connecting all four MERN components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200" b="1" dirty="0">
                <a:solidFill>
                  <a:srgbClr val="1A1A1A"/>
                </a:solidFill>
                <a:latin typeface="Calibri" pitchFamily="34" charset="0"/>
                <a:ea typeface="Calibri" pitchFamily="34" charset="-122"/>
                <a:cs typeface="Calibri" pitchFamily="34" charset="-120"/>
              </a:rPr>
              <a:t>Future Improvements</a:t>
            </a:r>
            <a:endParaRPr lang="en-US" sz="3200" dirty="0"/>
          </a:p>
        </p:txBody>
      </p:sp>
      <p:sp>
        <p:nvSpPr>
          <p:cNvPr id="3" name="Text 1"/>
          <p:cNvSpPr/>
          <p:nvPr/>
        </p:nvSpPr>
        <p:spPr>
          <a:xfrm>
            <a:off x="640080" y="1188720"/>
            <a:ext cx="10972800" cy="457200"/>
          </a:xfrm>
          <a:prstGeom prst="rect">
            <a:avLst/>
          </a:prstGeom>
          <a:noFill/>
          <a:ln/>
        </p:spPr>
        <p:txBody>
          <a:bodyPr wrap="square" rtlCol="0" anchor="ctr"/>
          <a:lstStyle/>
          <a:p>
            <a:pPr indent="0" marL="0">
              <a:buNone/>
            </a:pPr>
            <a:r>
              <a:rPr lang="en-US" sz="1500" dirty="0">
                <a:solidFill>
                  <a:srgbClr val="555555"/>
                </a:solidFill>
                <a:latin typeface="Calibri" pitchFamily="34" charset="0"/>
                <a:ea typeface="Calibri" pitchFamily="34" charset="-122"/>
                <a:cs typeface="Calibri" pitchFamily="34" charset="-120"/>
              </a:rPr>
              <a:t>Possible enhancements that could be added in future iterations of the project.</a:t>
            </a:r>
            <a:endParaRPr lang="en-US" sz="1500" dirty="0"/>
          </a:p>
        </p:txBody>
      </p:sp>
      <p:sp>
        <p:nvSpPr>
          <p:cNvPr id="4" name="Text 2"/>
          <p:cNvSpPr/>
          <p:nvPr/>
        </p:nvSpPr>
        <p:spPr>
          <a:xfrm>
            <a:off x="640080" y="1828800"/>
            <a:ext cx="10972800" cy="4754880"/>
          </a:xfrm>
          <a:prstGeom prst="rect">
            <a:avLst/>
          </a:prstGeom>
          <a:noFill/>
          <a:ln/>
        </p:spPr>
        <p:txBody>
          <a:bodyPr wrap="square" rtlCol="0" anchor="ctr"/>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User authentication: add login and signup so each user has their own private expenses (using JWT tokens and bcrypt for password hashing)</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Recurring expenses: support automatically repeating monthly expenses like rent, subscriptions, and utilities</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Export functionality: allow users to download their expense history as CSV or PDF for record-keeping</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Multiple budgets: allow setting separate budgets for each category instead of just one overall budget</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Receipt uploads: attach receipt images to expenses using cloud storage (AWS S3 or Cloudinary)</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Email notifications: alert the user when they cross 75 percent or 100 percent of their monthly budget</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Mobile application: build a React Native version that shares the same backend API</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Dark mode: add a theme toggle for users who prefer a darker interface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200" b="1" dirty="0">
                <a:solidFill>
                  <a:srgbClr val="1A1A1A"/>
                </a:solidFill>
                <a:latin typeface="Calibri" pitchFamily="34" charset="0"/>
                <a:ea typeface="Calibri" pitchFamily="34" charset="-122"/>
                <a:cs typeface="Calibri" pitchFamily="34" charset="-120"/>
              </a:rPr>
              <a:t>Conclusion</a:t>
            </a:r>
            <a:endParaRPr lang="en-US" sz="3200" dirty="0"/>
          </a:p>
        </p:txBody>
      </p:sp>
      <p:sp>
        <p:nvSpPr>
          <p:cNvPr id="3" name="Text 1"/>
          <p:cNvSpPr/>
          <p:nvPr/>
        </p:nvSpPr>
        <p:spPr>
          <a:xfrm>
            <a:off x="640080" y="1280160"/>
            <a:ext cx="10972800" cy="1371600"/>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This project successfully demonstrates the core capabilities of the MERN stack. The application performs full CRUD operations on two resources, persists data to a cloud-hosted MongoDB database, exposes a clean REST API, and provides a responsive React frontend with charts and real-time filtering. All assignment requirements have been met.</a:t>
            </a:r>
            <a:endParaRPr lang="en-US" sz="1600" dirty="0"/>
          </a:p>
        </p:txBody>
      </p:sp>
      <p:sp>
        <p:nvSpPr>
          <p:cNvPr id="4" name="Text 2"/>
          <p:cNvSpPr/>
          <p:nvPr/>
        </p:nvSpPr>
        <p:spPr>
          <a:xfrm>
            <a:off x="640080" y="2834640"/>
            <a:ext cx="10972800" cy="457200"/>
          </a:xfrm>
          <a:prstGeom prst="rect">
            <a:avLst/>
          </a:prstGeom>
          <a:noFill/>
          <a:ln/>
        </p:spPr>
        <p:txBody>
          <a:bodyPr wrap="square"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Summary</a:t>
            </a:r>
            <a:endParaRPr lang="en-US" sz="2000" dirty="0"/>
          </a:p>
        </p:txBody>
      </p:sp>
      <p:sp>
        <p:nvSpPr>
          <p:cNvPr id="5" name="Text 3"/>
          <p:cNvSpPr/>
          <p:nvPr/>
        </p:nvSpPr>
        <p:spPr>
          <a:xfrm>
            <a:off x="640080" y="3291840"/>
            <a:ext cx="10972800" cy="2286000"/>
          </a:xfrm>
          <a:prstGeom prst="rect">
            <a:avLst/>
          </a:prstGeom>
          <a:noFill/>
          <a:ln/>
        </p:spPr>
        <p:txBody>
          <a:bodyPr wrap="square" rtlCol="0" anchor="ctr"/>
          <a:lstStyle/>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Six REST API endpoints across two resources (expenses and budget)</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Two Mongoose models with full schema validation</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Eight expense categories with color-coded icons</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Two interactive Recharts visualizations</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Cloud database hosted on MongoDB Atlas</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Complete documentation with README and quick-start guide</a:t>
            </a:r>
            <a:endParaRPr lang="en-US" sz="1400" dirty="0"/>
          </a:p>
        </p:txBody>
      </p:sp>
      <p:sp>
        <p:nvSpPr>
          <p:cNvPr id="6" name="Text 4"/>
          <p:cNvSpPr/>
          <p:nvPr/>
        </p:nvSpPr>
        <p:spPr>
          <a:xfrm>
            <a:off x="640080" y="5852160"/>
            <a:ext cx="10972800" cy="548640"/>
          </a:xfrm>
          <a:prstGeom prst="rect">
            <a:avLst/>
          </a:prstGeom>
          <a:noFill/>
          <a:ln/>
        </p:spPr>
        <p:txBody>
          <a:bodyPr wrap="square" rtlCol="0" anchor="ctr"/>
          <a:lstStyle/>
          <a:p>
            <a:pPr algn="ctr" indent="0" marL="0">
              <a:buNone/>
            </a:pPr>
            <a:r>
              <a:rPr lang="en-US" sz="2800" b="1" dirty="0">
                <a:solidFill>
                  <a:srgbClr val="1A1A1A"/>
                </a:solidFill>
                <a:latin typeface="Calibri" pitchFamily="34" charset="0"/>
                <a:ea typeface="Calibri" pitchFamily="34" charset="-122"/>
                <a:cs typeface="Calibri" pitchFamily="34" charset="-120"/>
              </a:rPr>
              <a:t>Thank You</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Expense Tracker - MERN Stack</dc:title>
  <dc:subject>PptxGenJS Presentation</dc:subject>
  <dc:creator>Shiva</dc:creator>
  <cp:lastModifiedBy>Shiva</cp:lastModifiedBy>
  <cp:revision>1</cp:revision>
  <dcterms:created xsi:type="dcterms:W3CDTF">2026-05-01T02:42:39Z</dcterms:created>
  <dcterms:modified xsi:type="dcterms:W3CDTF">2026-05-01T02:42:39Z</dcterms:modified>
</cp:coreProperties>
</file>